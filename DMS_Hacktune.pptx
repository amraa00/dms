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mn-MN" sz="1200" b="0" i="0" u="none" strike="noStrike">
                <a:solidFill>
                  <a:srgbClr val="1E293B"/>
                </a:solidFill>
                <a:latin typeface="Arial"/>
              </a:rPr>
              <a:t>Хүсэлтийн төлвөөр (дансны хувь)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Хүсэлт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draft</c:v>
                </c:pt>
                <c:pt idx="1">
                  <c:v>submitted</c:v>
                </c:pt>
                <c:pt idx="2">
                  <c:v>priority</c:v>
                </c:pt>
                <c:pt idx="3">
                  <c:v>selected</c:v>
                </c:pt>
                <c:pt idx="4">
                  <c:v>payment</c:v>
                </c:pt>
                <c:pt idx="5">
                  <c:v>paid</c:v>
                </c:pt>
                <c:pt idx="6">
                  <c:v>contract</c:v>
                </c:pt>
                <c:pt idx="7">
                  <c:v>done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86</c:v>
                </c:pt>
                <c:pt idx="2">
                  <c:v>54</c:v>
                </c:pt>
                <c:pt idx="3">
                  <c:v>41</c:v>
                </c:pt>
                <c:pt idx="4">
                  <c:v>28</c:v>
                </c:pt>
                <c:pt idx="5">
                  <c:v>92</c:v>
                </c:pt>
                <c:pt idx="6">
                  <c:v>64</c:v>
                </c:pt>
                <c:pt idx="7">
                  <c:v>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94-42F6-A92F-E3224B72A8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59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hart" Target="../charts/chart1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18" Type="http://schemas.openxmlformats.org/officeDocument/2006/relationships/image" Target="../media/image41.png"/><Relationship Id="rId3" Type="http://schemas.openxmlformats.org/officeDocument/2006/relationships/image" Target="../media/image14.png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18.png"/><Relationship Id="rId5" Type="http://schemas.openxmlformats.org/officeDocument/2006/relationships/image" Target="../media/image32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19" Type="http://schemas.openxmlformats.org/officeDocument/2006/relationships/image" Target="../media/image42.png"/><Relationship Id="rId4" Type="http://schemas.openxmlformats.org/officeDocument/2006/relationships/image" Target="../media/image31.png"/><Relationship Id="rId9" Type="http://schemas.openxmlformats.org/officeDocument/2006/relationships/image" Target="../media/image15.png"/><Relationship Id="rId1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7320" y="4244415"/>
            <a:ext cx="5029200" cy="5029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Дотуур байрны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цахим удирдлагын систем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Цаасан хүсэлтээс — нэг товчны шийдэл хүртэл.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SSO · QPay · e-Signature · Real-time Admin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534924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3492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62072" y="5349240"/>
            <a:ext cx="2176272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534924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 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02936" y="534924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2936" y="53492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Redis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24928" y="5349240"/>
            <a:ext cx="1106424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534924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QPay v2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 Team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96256" y="5854823"/>
            <a:ext cx="1555664" cy="726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mn-MN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ПХ-4  Б.Амаржаргал</a:t>
            </a:r>
            <a:br>
              <a:rPr lang="mn-MN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mn-MN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ПХ-2  Д.Сүхзандан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АСУУДАЛ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Дотуур байрны өнөөгийн ажил — цаасан, дараалал, </a:t>
            </a:r>
            <a:r>
              <a:rPr lang="en-US" sz="28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тодорхойгүй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92938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Цаасан хүсэлт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Оюутан 2-3 удаа очиж бүртгүүлдэг.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Цаас алдагдах эрсдэлтэй.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554480"/>
            <a:ext cx="73152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53712" y="1810512"/>
            <a:ext cx="566928" cy="56692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192938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Урт дараалал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257800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Эрэмбийн систем тодорхойгүй,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оюутан өөрийн ээлжээ мэдэхгүй.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46720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46720" y="1554480"/>
            <a:ext cx="73152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02752" y="1810512"/>
            <a:ext cx="566928" cy="56692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192938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068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Бэлэн төлбөр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006840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 нээх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цаг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хязгаартай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3346186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" y="3337560"/>
            <a:ext cx="73152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4672" y="3593592"/>
            <a:ext cx="566928" cy="56692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3712464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Гарын</a:t>
            </a: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үсэг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508760" y="39959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Гэрээг цаасаар хэвлэж, биеэр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ирж гарын үсэг зурдаг.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97680" y="333756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297680" y="3337560"/>
            <a:ext cx="73152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553712" y="3593592"/>
            <a:ext cx="566928" cy="56692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3712464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5780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Гомдол алга болно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5257800" y="39959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Үйлчилгээний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ажилтан</a:t>
            </a:r>
            <a:r>
              <a:rPr lang="mn-MN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 очих эсэх,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гар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бичмэл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mn-MN" sz="1100" dirty="0"/>
              <a:t> г</a:t>
            </a:r>
            <a:r>
              <a:rPr lang="mn-MN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омдолд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хариу ирэхгүй.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46720" y="333756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046720" y="3337560"/>
            <a:ext cx="73152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302752" y="3593592"/>
            <a:ext cx="566928" cy="56692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624" y="3712464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0684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Шийдвэр удаашрах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9006840" y="39959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Удирдлага тайлан гарахын тулд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хүний мэдээлэл цуглуулдаг.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22960" y="52852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3.1.x — 8.x журмын заалт цаасан үйл явц дээр тулгуурладаг.</a:t>
            </a:r>
            <a:endParaRPr lang="en-US" sz="1800" dirty="0"/>
          </a:p>
        </p:txBody>
      </p:sp>
      <p:sp>
        <p:nvSpPr>
          <p:cNvPr id="43" name="Text 35"/>
          <p:cNvSpPr/>
          <p:nvPr/>
        </p:nvSpPr>
        <p:spPr>
          <a:xfrm>
            <a:off x="822960" y="5687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Цахим хувилбар хийхгүй бол алдаа, гомдол, </a:t>
            </a:r>
            <a:r>
              <a:rPr lang="mn-MN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дараал,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цагийн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алдагдал</a:t>
            </a:r>
            <a:r>
              <a:rPr lang="mn-MN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ШИЙДЭЛ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Бүх </a:t>
            </a:r>
            <a:r>
              <a:rPr lang="en-US" sz="28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үе</a:t>
            </a: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шат</a:t>
            </a:r>
            <a:r>
              <a:rPr lang="mn-MN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ны</a:t>
            </a: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нэг</a:t>
            </a: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mn-MN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</a:t>
            </a: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оюутан, ажилтан, нягтлан, удирдлага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916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DMS — журмын дагуу автоматжсан, ил тод, мобайл-найрсаг шийдэл.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874520" y="22860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SSO нэвтрэлт · 5-түвшний эрэмбэ · QPay QR төлбөр · цахим гарын үсэг · бодит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хугацааны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n-MN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хэмнэлт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13916" y="36118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788" y="37307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Оюутанд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668780" y="475488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4983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товчоор хүсэлт,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төлбөр, гэрээ, гомдол.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410712" y="32004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475988" y="36118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73075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10712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Ажилтанд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4530852" y="475488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39312" y="4983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Бодит хугацааны</a:t>
            </a:r>
            <a:endParaRPr lang="en-US" sz="1200" dirty="0"/>
          </a:p>
          <a:p>
            <a:pPr marL="0" indent="0" algn="ctr">
              <a:buNone/>
            </a:pP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хэмнэлт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 хүсэлтүүдийн самбар.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72784" y="32004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38060" y="36118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932" y="373075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72784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Нягтланд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7392924" y="475488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01384" y="4983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QPay webhook,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 буцаалт ба тайлан.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134856" y="32004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200132" y="36118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04" y="3730752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134856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Удирдлагад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10254996" y="475488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363456" y="4983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 бүрийн KPI,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зөрчлийн хяналт, шийдвэр.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ХАРЬЦУУЛАЛТ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Хуучин байдал vs Dormitory Management System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        </a:t>
            </a:r>
            <a:r>
              <a:rPr lang="en-US" sz="28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өмнө</a:t>
            </a: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                                                одоо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9525">
            <a:solidFill>
              <a:srgbClr val="FCA5A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276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819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ХУУЧИН  —  цаасан үйл явц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95144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240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Хүсэлт: цаасаар бөглөж комиссд өгнө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5234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697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Эрэмбэ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тодорхойгүй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954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154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 — бэлэн мөнгө,  тасалбар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6674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611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Гэрээ —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биеэр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х,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гарын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үсэг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зурах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23944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97280" y="4069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Зочин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ирэх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чөлөө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авах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журналын дэвтэр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81144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97280" y="4526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Гомдол — амаар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хэлэх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мартагдах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38344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97280" y="4983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Тайланг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аар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хийнэ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(Excel/word)</a:t>
            </a:r>
            <a:endParaRPr lang="en-US" sz="1200" dirty="0"/>
          </a:p>
        </p:txBody>
      </p:sp>
      <p:sp>
        <p:nvSpPr>
          <p:cNvPr id="22" name="Shape 12"/>
          <p:cNvSpPr/>
          <p:nvPr/>
        </p:nvSpPr>
        <p:spPr>
          <a:xfrm>
            <a:off x="6172200" y="150876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27632"/>
            <a:ext cx="292608" cy="29260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766560" y="15819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ШИНЭ  —  DMS цахим систем</a:t>
            </a:r>
            <a:endParaRPr lang="en-US" sz="16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95144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720840" y="2240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форм + WEST SSO нэвтрэлт</a:t>
            </a:r>
            <a:endParaRPr lang="en-US" sz="12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752344"/>
            <a:ext cx="201168" cy="201168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720840" y="2697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5-түвшний автомат эрэмбэ + ил дараалал</a:t>
            </a:r>
            <a:endParaRPr lang="en-US" sz="12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09544"/>
            <a:ext cx="201168" cy="201168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720840" y="3154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QPay QR төлбөр + 4 цагийн таймер</a:t>
            </a:r>
            <a:endParaRPr lang="en-US" sz="12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66744"/>
            <a:ext cx="201168" cy="201168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720840" y="3611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Цахим e-Signature, 7 хоногийн хүлээлт</a:t>
            </a:r>
            <a:endParaRPr lang="en-US" sz="12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23944"/>
            <a:ext cx="201168" cy="201168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720840" y="4069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Зочин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ирэх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чөлөө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авах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цахим хүсэлт</a:t>
            </a:r>
            <a:endParaRPr lang="en-US" sz="120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581144"/>
            <a:ext cx="201168" cy="201168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6720840" y="4526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Гомдол → 9 ангилал, 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хяналт</a:t>
            </a:r>
            <a:endParaRPr lang="en-US" sz="12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038344"/>
            <a:ext cx="201168" cy="201168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6720840" y="4983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Сарын тайлан автоматаар (Excel/PDF)</a:t>
            </a:r>
            <a:endParaRPr lang="en-US" sz="1200" dirty="0"/>
          </a:p>
        </p:txBody>
      </p:sp>
      <p:sp>
        <p:nvSpPr>
          <p:cNvPr id="39" name="Shape 21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22"/>
          <p:cNvSpPr/>
          <p:nvPr/>
        </p:nvSpPr>
        <p:spPr>
          <a:xfrm>
            <a:off x="777240" y="5422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5-7 хоног → 1 </a:t>
            </a:r>
            <a:r>
              <a:rPr lang="mn-MN" sz="17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хоног</a:t>
            </a:r>
            <a:endParaRPr lang="en-US" sz="1700" dirty="0"/>
          </a:p>
        </p:txBody>
      </p:sp>
      <p:sp>
        <p:nvSpPr>
          <p:cNvPr id="41" name="Text 23"/>
          <p:cNvSpPr/>
          <p:nvPr/>
        </p:nvSpPr>
        <p:spPr>
          <a:xfrm>
            <a:off x="777240" y="5806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Боловсруулалтын хугацаа</a:t>
            </a:r>
            <a:endParaRPr lang="en-US" sz="1100" dirty="0"/>
          </a:p>
        </p:txBody>
      </p:sp>
      <p:sp>
        <p:nvSpPr>
          <p:cNvPr id="42" name="Text 24"/>
          <p:cNvSpPr/>
          <p:nvPr/>
        </p:nvSpPr>
        <p:spPr>
          <a:xfrm>
            <a:off x="4434840" y="5422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→ 100%</a:t>
            </a:r>
            <a:endParaRPr lang="en-US" sz="1700" dirty="0"/>
          </a:p>
        </p:txBody>
      </p:sp>
      <p:sp>
        <p:nvSpPr>
          <p:cNvPr id="43" name="Text 25"/>
          <p:cNvSpPr/>
          <p:nvPr/>
        </p:nvSpPr>
        <p:spPr>
          <a:xfrm>
            <a:off x="4434840" y="5806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Үйл явдлын ил тод байдал</a:t>
            </a:r>
            <a:endParaRPr lang="en-US" sz="1100" dirty="0"/>
          </a:p>
        </p:txBody>
      </p:sp>
      <p:sp>
        <p:nvSpPr>
          <p:cNvPr id="44" name="Text 26"/>
          <p:cNvSpPr/>
          <p:nvPr/>
        </p:nvSpPr>
        <p:spPr>
          <a:xfrm>
            <a:off x="8092440" y="5422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модель · 70+ API</a:t>
            </a:r>
            <a:endParaRPr lang="en-US" sz="1700" dirty="0"/>
          </a:p>
        </p:txBody>
      </p:sp>
      <p:sp>
        <p:nvSpPr>
          <p:cNvPr id="45" name="Text 27"/>
          <p:cNvSpPr/>
          <p:nvPr/>
        </p:nvSpPr>
        <p:spPr>
          <a:xfrm>
            <a:off x="8092440" y="5806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Бэлэн backend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Хэрэглэгчийн дүр — оюутан · ажилтан · нягтлан · удирдлага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926080" y="1645920"/>
            <a:ext cx="6400800" cy="4617720"/>
          </a:xfrm>
          <a:prstGeom prst="roundRect">
            <a:avLst>
              <a:gd name="adj" fmla="val 3564"/>
            </a:avLst>
          </a:prstGeom>
          <a:solidFill>
            <a:srgbClr val="F8FAFC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92608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системийн хүрээ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423160"/>
            <a:ext cx="0" cy="64008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06040"/>
            <a:ext cx="731520" cy="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Оюутан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526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892040"/>
            <a:ext cx="0" cy="64008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5074920"/>
            <a:ext cx="731520" cy="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914400" y="5541265"/>
            <a:ext cx="182880" cy="45720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5532120"/>
            <a:ext cx="274320" cy="50292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35640" y="205740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2423160"/>
            <a:ext cx="0" cy="64008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52760" y="2606040"/>
            <a:ext cx="731520" cy="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mn-MN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Ажилтан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835640" y="4526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18520" y="4892040"/>
            <a:ext cx="0" cy="64008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52760" y="5074920"/>
            <a:ext cx="731520" cy="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6080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Удирдлага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187452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Бүртгэл / нэвтрэх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91840" y="246888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Өрөө захиалах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91840" y="306324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Төлбөр төлөх (QPay)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365760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Гэрээнд e-sign хийх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91840" y="425196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484632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mn-MN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Буцаалт хийх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83680" y="187452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Хүсэлт батлах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583680" y="246888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Өрөө хуваарилах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583680" y="306324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Гомдол шийдвэрлэх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83680" y="365760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0" y="425196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mn-MN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Гомдол илгээх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583680" y="4846320"/>
            <a:ext cx="2377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Сарын тайлан үзэх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 flipV="1">
            <a:off x="1554480" y="2103120"/>
            <a:ext cx="1737360" cy="50292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54480" y="2606040"/>
            <a:ext cx="1737360" cy="9144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554480" y="2606040"/>
            <a:ext cx="1737360" cy="68580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54480" y="2606040"/>
            <a:ext cx="1737360" cy="12801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554480" y="4480560"/>
            <a:ext cx="1737360" cy="5943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54479" y="5074920"/>
            <a:ext cx="1737361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8961119" y="2103120"/>
            <a:ext cx="1600184" cy="50292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>
            <a:off x="8961105" y="2606040"/>
            <a:ext cx="1600204" cy="73152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8961102" y="2606040"/>
            <a:ext cx="1600213" cy="68580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8961120" y="2606040"/>
            <a:ext cx="1600200" cy="12801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8961119" y="2606040"/>
            <a:ext cx="1600183" cy="187452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>
            <a:off x="8961120" y="5074920"/>
            <a:ext cx="1600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67" name="Shape 14">
            <a:extLst>
              <a:ext uri="{FF2B5EF4-FFF2-40B4-BE49-F238E27FC236}">
                <a16:creationId xmlns:a16="http://schemas.microsoft.com/office/drawing/2014/main" id="{DB30CFED-1E1B-E3A0-4934-BDC1F51F01BF}"/>
              </a:ext>
            </a:extLst>
          </p:cNvPr>
          <p:cNvSpPr/>
          <p:nvPr/>
        </p:nvSpPr>
        <p:spPr>
          <a:xfrm flipH="1">
            <a:off x="914400" y="3035809"/>
            <a:ext cx="182880" cy="45720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C9B0FD2E-2731-7915-911C-BA669461D95E}"/>
              </a:ext>
            </a:extLst>
          </p:cNvPr>
          <p:cNvSpPr/>
          <p:nvPr/>
        </p:nvSpPr>
        <p:spPr>
          <a:xfrm>
            <a:off x="1097280" y="3026664"/>
            <a:ext cx="274320" cy="50292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DF8E1A49-5CEA-411C-E77A-9B21ECEBA332}"/>
              </a:ext>
            </a:extLst>
          </p:cNvPr>
          <p:cNvSpPr/>
          <p:nvPr/>
        </p:nvSpPr>
        <p:spPr>
          <a:xfrm flipH="1">
            <a:off x="10835639" y="3026665"/>
            <a:ext cx="182880" cy="45720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70" name="Shape 15">
            <a:extLst>
              <a:ext uri="{FF2B5EF4-FFF2-40B4-BE49-F238E27FC236}">
                <a16:creationId xmlns:a16="http://schemas.microsoft.com/office/drawing/2014/main" id="{04D940C0-1961-B21B-E902-002151A9EB75}"/>
              </a:ext>
            </a:extLst>
          </p:cNvPr>
          <p:cNvSpPr/>
          <p:nvPr/>
        </p:nvSpPr>
        <p:spPr>
          <a:xfrm>
            <a:off x="11018519" y="3017520"/>
            <a:ext cx="274320" cy="50292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66111627-E02D-E6EF-B273-336645567559}"/>
              </a:ext>
            </a:extLst>
          </p:cNvPr>
          <p:cNvSpPr/>
          <p:nvPr/>
        </p:nvSpPr>
        <p:spPr>
          <a:xfrm flipH="1">
            <a:off x="10835640" y="5495545"/>
            <a:ext cx="182880" cy="45720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72" name="Shape 15">
            <a:extLst>
              <a:ext uri="{FF2B5EF4-FFF2-40B4-BE49-F238E27FC236}">
                <a16:creationId xmlns:a16="http://schemas.microsoft.com/office/drawing/2014/main" id="{B152F65A-509F-E790-9955-0C460C032AF7}"/>
              </a:ext>
            </a:extLst>
          </p:cNvPr>
          <p:cNvSpPr/>
          <p:nvPr/>
        </p:nvSpPr>
        <p:spPr>
          <a:xfrm>
            <a:off x="11018520" y="5486400"/>
            <a:ext cx="274320" cy="502920"/>
          </a:xfrm>
          <a:prstGeom prst="line">
            <a:avLst/>
          </a:prstGeom>
          <a:noFill/>
          <a:ln w="50800">
            <a:solidFill>
              <a:srgbClr val="0F172A"/>
            </a:solidFill>
            <a:prstDash val="solid"/>
          </a:ln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EB4C2610-3832-50FA-E68F-4DAA904C099E}"/>
              </a:ext>
            </a:extLst>
          </p:cNvPr>
          <p:cNvSpPr/>
          <p:nvPr/>
        </p:nvSpPr>
        <p:spPr>
          <a:xfrm>
            <a:off x="525926" y="605890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mn-MN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Нягтлан</a:t>
            </a:r>
            <a:endParaRPr lang="en-US" sz="1200" dirty="0"/>
          </a:p>
        </p:txBody>
      </p:sp>
      <p:sp>
        <p:nvSpPr>
          <p:cNvPr id="29" name="Text 38">
            <a:extLst>
              <a:ext uri="{FF2B5EF4-FFF2-40B4-BE49-F238E27FC236}">
                <a16:creationId xmlns:a16="http://schemas.microsoft.com/office/drawing/2014/main" id="{210EE8B4-E75C-C42E-A0BF-A4EC533F9E35}"/>
              </a:ext>
            </a:extLst>
          </p:cNvPr>
          <p:cNvSpPr/>
          <p:nvPr/>
        </p:nvSpPr>
        <p:spPr>
          <a:xfrm>
            <a:off x="6592886" y="3645235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Зочин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чөлөө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хүсэх</a:t>
            </a:r>
            <a:endParaRPr lang="en-US" sz="1050" dirty="0"/>
          </a:p>
        </p:txBody>
      </p:sp>
      <p:sp>
        <p:nvSpPr>
          <p:cNvPr id="73" name="Text 48"/>
          <p:cNvSpPr/>
          <p:nvPr/>
        </p:nvSpPr>
        <p:spPr>
          <a:xfrm>
            <a:off x="3294150" y="4241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Төлбөр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баталгаажуулах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АРХИТЕКТУР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Системийн давхаргат архитектур ба интеграцууд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Hacktathon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164592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55648"/>
            <a:ext cx="566928" cy="56692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745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6733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Хэрэглэгчийн давхарга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20756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Tailwind 4 · Zustand · React Query · React Hook Form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697480"/>
            <a:ext cx="164592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944368"/>
            <a:ext cx="566928" cy="56692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06324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28620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давхарга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600200" y="32644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5 · Zod · JWT cookie · Helmet · Morgan · CORS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3886200"/>
            <a:ext cx="164592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8680" y="4133088"/>
            <a:ext cx="566928" cy="56692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25196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0507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Бизнес-логикийн давхарга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600200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· qpay · west · penalty · daily-rules · notification сервисүүд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" y="5074920"/>
            <a:ext cx="16459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8680" y="5321808"/>
            <a:ext cx="566928" cy="56692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544068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52395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Өгөгдөл / интеграц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1600200" y="56418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(Mongoose · 22 модель) · Redis · WEST SSO · QPay v2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035040" y="2542032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035040" y="3730752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035040" y="4919472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ER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Өгөгдлийн загвар — гол entity ба харилцаанууд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Hacktathon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201168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883664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registerNumber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westLoginName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/ region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isDisabled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554480"/>
            <a:ext cx="2194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554480"/>
            <a:ext cx="21945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RoomApplication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90672" y="1883664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(8 төлөв)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priorityTier 1-5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paymentDueAt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wantsSpecialRoom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540764"/>
            <a:ext cx="1828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554480"/>
            <a:ext cx="182880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42432" y="1883664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dormId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floorId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roomNumber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maxOccupancy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monthlyFee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82750" y="1537228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4129" y="1537228"/>
            <a:ext cx="16459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82756" y="1554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47280" y="18836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05118" y="246888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13746" y="2468880"/>
            <a:ext cx="1637292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13740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95518" y="27980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dormId, floorNo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3657600"/>
            <a:ext cx="2194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3657600"/>
            <a:ext cx="21945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657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90672" y="3986784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roomId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isHalfYear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signDeadlineAt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e-sign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3657600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3657600"/>
            <a:ext cx="18288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42432" y="3986784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contractId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/ penalty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QPay invoice / QR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status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81026" y="3657600"/>
            <a:ext cx="1645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F43F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399" y="3648455"/>
            <a:ext cx="164592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63772" y="367571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45034" y="40269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paymentId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status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784080" y="155448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1554480"/>
            <a:ext cx="18288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GuestPass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57232" y="18836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20:00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784080" y="23774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84080" y="2377440"/>
            <a:ext cx="18288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LeaveRequest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857232" y="27066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1-3 өдөр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784080" y="320040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84080" y="3200400"/>
            <a:ext cx="18288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8408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ExitRequest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857232" y="35295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7 хоног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784080" y="402336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84080" y="4023360"/>
            <a:ext cx="18288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8408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857232" y="43525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9 ангилал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784080" y="484632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84080" y="4846320"/>
            <a:ext cx="18288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84080" y="4846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StorageRequest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857232" y="517550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зун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8640" y="365760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F43F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3657600"/>
            <a:ext cx="201168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Violation/Warning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1792" y="398678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category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8640" y="475488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" y="4754880"/>
            <a:ext cx="20116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4754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CouncilMember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1792" y="508406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feeDiscount ≤50%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560320" y="2286000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2286000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98080" y="1920240"/>
            <a:ext cx="2656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212080" y="4343400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98080" y="4114800"/>
            <a:ext cx="28294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54480" y="301752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54480" y="3383280"/>
            <a:ext cx="2560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14799" y="3383279"/>
            <a:ext cx="8627" cy="274321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554480" y="3017520"/>
            <a:ext cx="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54480" y="461772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376672" y="3419854"/>
            <a:ext cx="4297673" cy="9141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74348" y="1920240"/>
            <a:ext cx="109731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74348" y="2743200"/>
            <a:ext cx="109731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74348" y="3566160"/>
            <a:ext cx="109731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674346" y="4389120"/>
            <a:ext cx="10973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74346" y="5212080"/>
            <a:ext cx="109733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>
            <a:off x="9674347" y="1920240"/>
            <a:ext cx="2" cy="32918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98080" y="2834639"/>
            <a:ext cx="182880" cy="9137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Cyan = Identity   ● Amber = Application/Council   ● Violet = Inventory   ● Emerald = Contract/Payment   ● Rose = Refund/Violation</a:t>
            </a:r>
            <a:endParaRPr lang="en-US" sz="1000" dirty="0"/>
          </a:p>
        </p:txBody>
      </p:sp>
      <p:sp>
        <p:nvSpPr>
          <p:cNvPr id="85" name="Shape 73">
            <a:extLst>
              <a:ext uri="{FF2B5EF4-FFF2-40B4-BE49-F238E27FC236}">
                <a16:creationId xmlns:a16="http://schemas.microsoft.com/office/drawing/2014/main" id="{F094C531-7160-9FB9-3B6F-CABA3604B351}"/>
              </a:ext>
            </a:extLst>
          </p:cNvPr>
          <p:cNvSpPr/>
          <p:nvPr/>
        </p:nvSpPr>
        <p:spPr>
          <a:xfrm flipH="1">
            <a:off x="5376673" y="2286000"/>
            <a:ext cx="18288" cy="113385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ҮНДСЭН МОДУЛИУД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DMS-н 6 цөм модуль — журмын заалттай уялдсан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1737360"/>
            <a:ext cx="292608" cy="29260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Нэвтрэлт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SSO + локал бүртгэл, JWT cookie, role-based access (4 дүр)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50876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60920" y="1737360"/>
            <a:ext cx="292608" cy="29260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6092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17830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90195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Өрөө захиалга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57200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Хүсэлт → 5-түвшний эрэмбэ → өрөө сонгох → 4 цагийн төлбөр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46720" y="150876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109960" y="1737360"/>
            <a:ext cx="292608" cy="29260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10996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321040" y="17830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901952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2104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Цахим төлбөр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32104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QPay v2 invoice + QR + webhook баталгаажуулалт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402336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611880" y="4251960"/>
            <a:ext cx="292608" cy="29260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1188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416552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22960" y="4937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Гэрээ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822960" y="5394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Цахим гарын үсэг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(e-Signature) , хагас/бүтэн жил,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цуцла</a:t>
            </a: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лт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297680" y="402336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360920" y="4251960"/>
            <a:ext cx="292608" cy="29260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36092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572000" y="42976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416552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572000" y="4937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Ө</a:t>
            </a:r>
            <a:r>
              <a:rPr lang="mn-MN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дөр тутам</a:t>
            </a:r>
            <a:endParaRPr lang="en-US" sz="1800" dirty="0"/>
          </a:p>
        </p:txBody>
      </p:sp>
      <p:sp>
        <p:nvSpPr>
          <p:cNvPr id="39" name="Text 32"/>
          <p:cNvSpPr/>
          <p:nvPr/>
        </p:nvSpPr>
        <p:spPr>
          <a:xfrm>
            <a:off x="4572000" y="5394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Зочин (20:00</a:t>
            </a: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цагаас өмнө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чөлөө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(1-3 </a:t>
            </a: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хоног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гарах, гомдол, эд хогшил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046720" y="402336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11109960" y="4251960"/>
            <a:ext cx="292608" cy="29260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110996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8321040" y="42976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416552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321040" y="4937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Удирдлага</a:t>
            </a:r>
            <a:endParaRPr lang="en-US" sz="1800" dirty="0"/>
          </a:p>
        </p:txBody>
      </p:sp>
      <p:sp>
        <p:nvSpPr>
          <p:cNvPr id="46" name="Text 38"/>
          <p:cNvSpPr/>
          <p:nvPr/>
        </p:nvSpPr>
        <p:spPr>
          <a:xfrm>
            <a:off x="8321040" y="5394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pending overview, тайлан, зөрчил, хөнгөлөлт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ӨРӨӨ ЗАХИАЛГА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Хүсэлтээс контракт хүртэл 5 алхам · 5-түвшний эрэмбэ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8156" y="187452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19933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Хүсэлт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WEST-ээр нэвтэрч хүсэлт илгээнэ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2468880"/>
            <a:ext cx="137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169164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88436" y="187452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199339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036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Эрэмбэ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8036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1-5 — бэрхшээл, </a:t>
            </a:r>
            <a:r>
              <a:rPr lang="mn-MN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курс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892040" y="2468880"/>
            <a:ext cx="137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0" y="169164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28716" y="187452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199339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2064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Өрөө сонгох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12064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Боломжит өрөөнөөс сонгоно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132320" y="2468880"/>
            <a:ext cx="137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269480" y="169164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968996" y="187452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7868" y="1993392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Төлбөр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36092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QPay QR · 4 цагийн дотор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9372600" y="2468880"/>
            <a:ext cx="137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509760" y="169164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209276" y="187452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8148" y="1993392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0120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Гэрээ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60120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· 7 хоногийн дотор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48640" y="3657600"/>
            <a:ext cx="68580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772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Эрэмбэ — priority.service.ts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777240" y="42976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77240" y="42976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1783080" y="4297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Хөгжлийн бэрхшээл · хөдөө + 1-р курс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777240" y="468172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77240" y="46817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783080" y="46817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Хөдөө · 2-3-р курс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777240" y="506577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77240" y="50657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1783080" y="50657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Хөдөө · 4-6-р </a:t>
            </a: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777240" y="5449824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777240" y="54498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4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1783080" y="54498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Ховдоос алслагдсан сум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777240" y="583387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77240" y="58338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5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1783080" y="58338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Магистр / Доктор / Давтан</a:t>
            </a:r>
            <a:endParaRPr lang="en-US" sz="1200" dirty="0"/>
          </a:p>
        </p:txBody>
      </p:sp>
      <p:sp>
        <p:nvSpPr>
          <p:cNvPr id="51" name="Shape 44"/>
          <p:cNvSpPr/>
          <p:nvPr/>
        </p:nvSpPr>
        <p:spPr>
          <a:xfrm>
            <a:off x="7589520" y="3657600"/>
            <a:ext cx="4023360" cy="260604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858768"/>
            <a:ext cx="365760" cy="36576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827532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Цаг хугацааны SLA</a:t>
            </a:r>
            <a:endParaRPr lang="en-US" sz="1600" dirty="0"/>
          </a:p>
        </p:txBody>
      </p:sp>
      <p:sp>
        <p:nvSpPr>
          <p:cNvPr id="54" name="Text 46"/>
          <p:cNvSpPr/>
          <p:nvPr/>
        </p:nvSpPr>
        <p:spPr>
          <a:xfrm>
            <a:off x="781812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цаг</a:t>
            </a:r>
            <a:endParaRPr lang="en-US" sz="1600" dirty="0"/>
          </a:p>
        </p:txBody>
      </p:sp>
      <p:sp>
        <p:nvSpPr>
          <p:cNvPr id="55" name="Text 47"/>
          <p:cNvSpPr/>
          <p:nvPr/>
        </p:nvSpPr>
        <p:spPr>
          <a:xfrm>
            <a:off x="9098280" y="4434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Эрэмбийн цонх</a:t>
            </a:r>
            <a:endParaRPr lang="en-US" sz="1200" dirty="0"/>
          </a:p>
        </p:txBody>
      </p:sp>
      <p:sp>
        <p:nvSpPr>
          <p:cNvPr id="56" name="Text 48"/>
          <p:cNvSpPr/>
          <p:nvPr/>
        </p:nvSpPr>
        <p:spPr>
          <a:xfrm>
            <a:off x="7818120" y="4892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цаг</a:t>
            </a:r>
            <a:endParaRPr lang="en-US" sz="1600" dirty="0"/>
          </a:p>
        </p:txBody>
      </p:sp>
      <p:sp>
        <p:nvSpPr>
          <p:cNvPr id="57" name="Text 49"/>
          <p:cNvSpPr/>
          <p:nvPr/>
        </p:nvSpPr>
        <p:spPr>
          <a:xfrm>
            <a:off x="9098280" y="4892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Төлбөрийн хугацаа</a:t>
            </a:r>
            <a:endParaRPr lang="en-US" sz="1200" dirty="0"/>
          </a:p>
        </p:txBody>
      </p:sp>
      <p:sp>
        <p:nvSpPr>
          <p:cNvPr id="58" name="Text 50"/>
          <p:cNvSpPr/>
          <p:nvPr/>
        </p:nvSpPr>
        <p:spPr>
          <a:xfrm>
            <a:off x="7818120" y="5349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хоног</a:t>
            </a:r>
            <a:endParaRPr lang="en-US" sz="1600" dirty="0"/>
          </a:p>
        </p:txBody>
      </p:sp>
      <p:sp>
        <p:nvSpPr>
          <p:cNvPr id="59" name="Text 51"/>
          <p:cNvSpPr/>
          <p:nvPr/>
        </p:nvSpPr>
        <p:spPr>
          <a:xfrm>
            <a:off x="9098280" y="5349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Гэрээ гарын үсэг</a:t>
            </a:r>
            <a:endParaRPr lang="en-US" sz="1200" dirty="0"/>
          </a:p>
        </p:txBody>
      </p:sp>
      <p:sp>
        <p:nvSpPr>
          <p:cNvPr id="60" name="Text 52"/>
          <p:cNvSpPr/>
          <p:nvPr/>
        </p:nvSpPr>
        <p:spPr>
          <a:xfrm>
            <a:off x="7818120" y="5806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сар</a:t>
            </a:r>
            <a:endParaRPr lang="en-US" sz="1600" dirty="0"/>
          </a:p>
        </p:txBody>
      </p:sp>
      <p:sp>
        <p:nvSpPr>
          <p:cNvPr id="61" name="Text 53"/>
          <p:cNvSpPr/>
          <p:nvPr/>
        </p:nvSpPr>
        <p:spPr>
          <a:xfrm>
            <a:off x="909828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Шимтгэл / буцаалт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ТӨЛБӨР + ГЭРЭЭ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QPay v2 интеграц ба цахим гарын үсэг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9019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QPay v2 урсгал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42316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createInvoice() → invoice_id, qr_text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2990088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17320" y="3035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+ deeplink-ийг оюутанд харуулна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3557016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17320" y="36027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Оюутан банкны аппаар QR уншуулна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4123944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17320" y="4169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/payments/qpay/callback ирнэ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68680" y="4690872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690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17320" y="47365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checkPayment() → status=paid, paidAt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68680" y="525780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17320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→ contract_pending руу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0" y="15544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29400" y="1783080"/>
            <a:ext cx="566928" cy="56692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1901952"/>
            <a:ext cx="329184" cy="32918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1520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Цахим гарын үсэг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6629400" y="2423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/api/v1/contracts/:id/sign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7 хоногийн дотор гарын үсэг — signDeadlineAt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Хагас /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бүтэн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жил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сонголт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Зөрчил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</a:t>
            </a: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админ цуцлах эрхтэй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Audit log + бүх шилжилт хадгалагдана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400800" y="402336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629400" y="4251960"/>
            <a:ext cx="566928" cy="5669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437083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315200" y="4251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Шимтгэл · Буцаалт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6629400" y="48463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шимтгэл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гэрээгүй / цуцалсан тохиолдолд (1 сар)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Буцаалт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—30 </a:t>
            </a:r>
            <a:r>
              <a:rPr lang="en-US" sz="12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хоногт</a:t>
            </a:r>
            <a:r>
              <a:rPr lang="mn-MN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шийдвэрлэнэ.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ӨДӨР ТУТМЫН ҮЙЛ АЖИЛЛАГАА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Дотоод дэг журмын модулиуд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47672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0" y="182880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18288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Дэг-3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700" b="1" dirty="0">
                <a:solidFill>
                  <a:srgbClr val="0F172A"/>
                </a:solidFill>
                <a:latin typeface="Georgia" pitchFamily="34" charset="0"/>
              </a:rPr>
              <a:t>Зочин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 хүртэл, </a:t>
            </a: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 бүл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бүртгэл + QR check-in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55448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82880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947672"/>
            <a:ext cx="329184" cy="3291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949440" y="182880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49440" y="18288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4.2.11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Түр чөлөө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57200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хоногийн чөлөө,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захирлын зөвшөөрөл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46720" y="155448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1040" y="182880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947672"/>
            <a:ext cx="329184" cy="32918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698480" y="182880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698480" y="18288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3.3.2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32104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Байраас гарах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32104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хоногийн өмнө хүсэлт,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 хогшил буцаалт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406908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462272"/>
            <a:ext cx="329184" cy="32918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3200400" y="434340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200400" y="43434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6.2.2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Санал гомдол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822960" y="5440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ангилал · сантехник, цахилгаан,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дуу чимээ, ц</a:t>
            </a:r>
            <a:r>
              <a:rPr lang="mn-MN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эвэр байдал гэх мэт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297680" y="406908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572000" y="434340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462272"/>
            <a:ext cx="329184" cy="32918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6949440" y="434340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949440" y="43434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4.10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Эд хогшил хадгалах</a:t>
            </a:r>
            <a:endParaRPr lang="en-US" sz="1700" dirty="0"/>
          </a:p>
        </p:txBody>
      </p:sp>
      <p:sp>
        <p:nvSpPr>
          <p:cNvPr id="39" name="Text 32"/>
          <p:cNvSpPr/>
          <p:nvPr/>
        </p:nvSpPr>
        <p:spPr>
          <a:xfrm>
            <a:off x="4572000" y="5440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Зуны амралтын үед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агуулахад түр хадгалах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046720" y="406908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321040" y="4343400"/>
            <a:ext cx="566928" cy="566928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462272"/>
            <a:ext cx="329184" cy="329184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0698480" y="434340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10698480" y="43434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Мэдэгдэл</a:t>
            </a:r>
            <a:endParaRPr lang="en-US" sz="1700" dirty="0"/>
          </a:p>
        </p:txBody>
      </p:sp>
      <p:sp>
        <p:nvSpPr>
          <p:cNvPr id="46" name="Text 38"/>
          <p:cNvSpPr/>
          <p:nvPr/>
        </p:nvSpPr>
        <p:spPr>
          <a:xfrm>
            <a:off x="8321040" y="5440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email + SMS,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хүсэлт бүрийн статус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УДИРДЛАГЫН САМБАР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Бодит хугацааны KPI · хяналт · шийдвэр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48006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37360"/>
            <a:ext cx="91440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22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1248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Идэвхтэй оюутан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73736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Хүлээгдэж буй хүсэлт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737360"/>
            <a:ext cx="9144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₮198M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Сарын төлбөр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173736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1737360"/>
            <a:ext cx="91440" cy="10515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982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Шийдвэрлээгүй гомдол</a:t>
            </a:r>
            <a:endParaRPr lang="en-US" sz="11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777240" y="2971800"/>
          <a:ext cx="68580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7818120" y="2971800"/>
            <a:ext cx="36576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0100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Сүүлийн үйл явдал</a:t>
            </a:r>
            <a:endParaRPr lang="en-US" sz="13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502152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366760" y="3456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Б.Ану — гэрээ гарын үсэг зурлаа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001000" y="3867912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005072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66760" y="3959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Т.Энх — QPay 320,000₮ ирлээ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001000" y="4370832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50799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366760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А-301 — халаалтын гомдол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001000" y="4873752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5010912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366760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Б-205 — зочин 19:45 ирэв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001000" y="5376672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5513832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366760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Г.Сод — хугацаа дуусахад 1 цаг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ТЕХНОЛОГИ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Орчин үеийн full-stack JavaScript цогц шийдэл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75304" cy="475488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3575304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78" y="24688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01752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4892" y="233172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090" y="24688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4892" y="301752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68680" y="361188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878" y="37490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429768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564892" y="361188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6090" y="37490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564892" y="429768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68680" y="489204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9878" y="502920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557784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2564892" y="489204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6090" y="502920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564892" y="557784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4288536" y="1554480"/>
            <a:ext cx="3575304" cy="475488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288536" y="1554480"/>
            <a:ext cx="357530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562856" y="1554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4608576" y="233172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9774" y="2468880"/>
            <a:ext cx="502920" cy="5029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608576" y="301752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304788" y="233172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5986" y="2468880"/>
            <a:ext cx="502920" cy="5029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304788" y="301752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608576" y="361188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9774" y="3749040"/>
            <a:ext cx="502920" cy="5029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608576" y="429768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Helmet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6304788" y="361188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5986" y="3749040"/>
            <a:ext cx="502920" cy="5029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304788" y="429768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4608576" y="489204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774" y="5029200"/>
            <a:ext cx="502920" cy="50292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4608576" y="557784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44" name="Shape 31"/>
          <p:cNvSpPr/>
          <p:nvPr/>
        </p:nvSpPr>
        <p:spPr>
          <a:xfrm>
            <a:off x="6304788" y="489204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5986" y="5029200"/>
            <a:ext cx="502920" cy="50292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304788" y="557784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monorepo</a:t>
            </a:r>
            <a:endParaRPr lang="en-US" sz="1100" dirty="0"/>
          </a:p>
        </p:txBody>
      </p:sp>
      <p:sp>
        <p:nvSpPr>
          <p:cNvPr id="47" name="Shape 33"/>
          <p:cNvSpPr/>
          <p:nvPr/>
        </p:nvSpPr>
        <p:spPr>
          <a:xfrm>
            <a:off x="8028432" y="1554480"/>
            <a:ext cx="3575304" cy="475488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34"/>
          <p:cNvSpPr/>
          <p:nvPr/>
        </p:nvSpPr>
        <p:spPr>
          <a:xfrm>
            <a:off x="8028432" y="1554480"/>
            <a:ext cx="357530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35"/>
          <p:cNvSpPr/>
          <p:nvPr/>
        </p:nvSpPr>
        <p:spPr>
          <a:xfrm>
            <a:off x="8302752" y="1554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+ Integrations</a:t>
            </a:r>
            <a:endParaRPr lang="en-US" sz="1600" dirty="0"/>
          </a:p>
        </p:txBody>
      </p:sp>
      <p:sp>
        <p:nvSpPr>
          <p:cNvPr id="50" name="Shape 36"/>
          <p:cNvSpPr/>
          <p:nvPr/>
        </p:nvSpPr>
        <p:spPr>
          <a:xfrm>
            <a:off x="8348472" y="233172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89670" y="2468880"/>
            <a:ext cx="502920" cy="50292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8348472" y="301752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53" name="Shape 38"/>
          <p:cNvSpPr/>
          <p:nvPr/>
        </p:nvSpPr>
        <p:spPr>
          <a:xfrm>
            <a:off x="10044684" y="233172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85882" y="2468880"/>
            <a:ext cx="502920" cy="50292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10044684" y="301752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56" name="Shape 40"/>
          <p:cNvSpPr/>
          <p:nvPr/>
        </p:nvSpPr>
        <p:spPr>
          <a:xfrm>
            <a:off x="8348472" y="361188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89670" y="3749040"/>
            <a:ext cx="502920" cy="502920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8348472" y="429768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QPay v2</a:t>
            </a:r>
            <a:endParaRPr lang="en-US" sz="1100" dirty="0"/>
          </a:p>
        </p:txBody>
      </p:sp>
      <p:sp>
        <p:nvSpPr>
          <p:cNvPr id="59" name="Shape 42"/>
          <p:cNvSpPr/>
          <p:nvPr/>
        </p:nvSpPr>
        <p:spPr>
          <a:xfrm>
            <a:off x="10044684" y="361188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85882" y="3749040"/>
            <a:ext cx="502920" cy="502920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10044684" y="429768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SSO</a:t>
            </a:r>
            <a:endParaRPr lang="en-US" sz="1100" dirty="0"/>
          </a:p>
        </p:txBody>
      </p:sp>
      <p:sp>
        <p:nvSpPr>
          <p:cNvPr id="62" name="Shape 44"/>
          <p:cNvSpPr/>
          <p:nvPr/>
        </p:nvSpPr>
        <p:spPr>
          <a:xfrm>
            <a:off x="8348472" y="489204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89670" y="5029200"/>
            <a:ext cx="502920" cy="502920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8348472" y="557784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</a:t>
            </a:r>
            <a:endParaRPr lang="en-US" sz="1100" dirty="0"/>
          </a:p>
        </p:txBody>
      </p:sp>
      <p:sp>
        <p:nvSpPr>
          <p:cNvPr id="65" name="Shape 46"/>
          <p:cNvSpPr/>
          <p:nvPr/>
        </p:nvSpPr>
        <p:spPr>
          <a:xfrm>
            <a:off x="10044684" y="4892040"/>
            <a:ext cx="137617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85882" y="5029200"/>
            <a:ext cx="502920" cy="502920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10044684" y="557784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ExcelJS / PDFKit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ШИНЭ БОЛОМЖУУД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Hackathon-д нэмэлтээр санал болгож буй өргөтгөлүүд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426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22576" y="1709928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22576" y="17099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709928"/>
            <a:ext cx="566928" cy="56692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82880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3774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өрөөний хослуулалт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88036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Хувь хүний амьдралын хэв маяг дээр үндэслэн roommate тааруулна.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55848" y="1508760"/>
            <a:ext cx="26426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9784" y="1709928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9784" y="17099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584448" y="1709928"/>
            <a:ext cx="566928" cy="56692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82880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84448" y="23774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check-in / out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84448" y="288036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Үүдэнд QR scanner — оюутан, зочин бүртгэл реал-тайм.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63056" y="1508760"/>
            <a:ext cx="26426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936992" y="1709928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936992" y="17099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391656" y="1709928"/>
            <a:ext cx="566928" cy="56692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828800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91656" y="23774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 (PWA)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91656" y="288036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notification, offline draft, biometric login.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970264" y="1508760"/>
            <a:ext cx="26426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744200" y="1709928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744200" y="17099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9198864" y="1709928"/>
            <a:ext cx="566928" cy="56692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1828800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98864" y="23774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maintenance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198864" y="288036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Гомдлын түүх + IoT-оор эвдрэлийг урьдчилан таамаглах.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8640" y="4005072"/>
            <a:ext cx="26426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322576" y="4206240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322576" y="42062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325112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77240" y="4873752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Газрын зураг + 3D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777240" y="537667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Дотуур байрны 3D загвар, өрөө сонгох visual layout.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355848" y="4005072"/>
            <a:ext cx="26426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5129784" y="4206240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129784" y="42062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3584448" y="4206240"/>
            <a:ext cx="566928" cy="56692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4325112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584448" y="4873752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 судалгаа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3584448" y="537667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Улирал бүр short pulse survey, NPS, гомдлын тренд.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6163056" y="4005072"/>
            <a:ext cx="26426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7936992" y="4206240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936992" y="42062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6391656" y="4206240"/>
            <a:ext cx="566928" cy="56692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4325112"/>
            <a:ext cx="329184" cy="329184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391656" y="4873752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Зөвлөл self-service</a:t>
            </a:r>
            <a:endParaRPr lang="en-US" sz="1300" dirty="0"/>
          </a:p>
        </p:txBody>
      </p:sp>
      <p:sp>
        <p:nvSpPr>
          <p:cNvPr id="53" name="Text 44"/>
          <p:cNvSpPr/>
          <p:nvPr/>
        </p:nvSpPr>
        <p:spPr>
          <a:xfrm>
            <a:off x="6391656" y="537667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Зөвлөлийн гишүүн өөрөө ≤50% хөнгөлөлт claim хийх.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8970264" y="4005072"/>
            <a:ext cx="26426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10744200" y="4206240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10744200" y="42062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9198864" y="4206240"/>
            <a:ext cx="566928" cy="56692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7736" y="4325112"/>
            <a:ext cx="329184" cy="329184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9198864" y="4873752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мэдэгдэл</a:t>
            </a:r>
            <a:endParaRPr lang="en-US" sz="1300" dirty="0"/>
          </a:p>
        </p:txBody>
      </p:sp>
      <p:sp>
        <p:nvSpPr>
          <p:cNvPr id="60" name="Text 50"/>
          <p:cNvSpPr/>
          <p:nvPr/>
        </p:nvSpPr>
        <p:spPr>
          <a:xfrm>
            <a:off x="9198864" y="537667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QPay, deadline, гомдлын хариу — олон сувгаар автомат.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ЗАМЫН ЗУРАГ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→ MVP → бодит ашиглалт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Dormitory Management System ·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508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3127248"/>
            <a:ext cx="329184" cy="329184"/>
          </a:xfrm>
          <a:prstGeom prst="ellipse">
            <a:avLst/>
          </a:prstGeom>
          <a:solidFill>
            <a:srgbClr val="06B6D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544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554480"/>
            <a:ext cx="260604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5-р сар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backend (22 модель)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самбар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QPay sandbox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SSO интеграц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Үе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Системийн суурь, демо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127248"/>
            <a:ext cx="329184" cy="329184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15544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1554480"/>
            <a:ext cx="26060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Q3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20116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email мэдэгдэл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Excel/PDF тайлан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байранд pilot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03320" y="36576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Үе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4023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хэрэглэгчид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3127248"/>
            <a:ext cx="329184" cy="329184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5544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554480"/>
            <a:ext cx="26060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Q4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20116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roommate matching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байр rollout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36576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Үе 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023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378440" y="3127248"/>
            <a:ext cx="329184" cy="329184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81160" y="15544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81160" y="1554480"/>
            <a:ext cx="260604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404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640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64040" y="20116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dorm map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мэдрэгч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Inter-univ. DMS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81160" y="36576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6404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Үе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64040" y="4023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32120"/>
            <a:ext cx="502920" cy="50292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463040" y="5440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Эцсийн зүрилго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МУ</a:t>
            </a:r>
            <a:r>
              <a:rPr lang="mn-MN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ИС-ын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mn-MN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бүх дотуур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байр нэг open платформ дээр.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463040" y="5852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Сургуулиуд хооронд оюутан шилжих, түр байх, exchange — бүгд автомат.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088" y="731520"/>
            <a:ext cx="6788458" cy="243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6600" dirty="0">
                <a:solidFill>
                  <a:srgbClr val="06B6D4"/>
                </a:solidFill>
                <a:latin typeface="Georgia" pitchFamily="34" charset="0"/>
              </a:rPr>
              <a:t>Анхаарал хандуулсанд баярлалаа.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17886" y="3675799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· Дотуур байрны цахим удирдлагын систем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937760"/>
            <a:ext cx="59436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035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Холбогдох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8308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hudacc74@gmail.com  ·  github.com/dms-team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78308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66560" y="493776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530352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0956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Цаасан хүсэлтгүй,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909560" y="5440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дараалалгүй, тодорхой.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90956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Дотуур байрын шинэ үе.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1623</Words>
  <Application>Microsoft Office PowerPoint</Application>
  <PresentationFormat>Widescreen</PresentationFormat>
  <Paragraphs>411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DMS · Дотуур байрны цахим удирдлагын систем</dc:title>
  <dc:subject>PptxGenJS Presentation</dc:subject>
  <dc:creator>Team DMS · Hacktune 2026</dc:creator>
  <cp:lastModifiedBy>AMARJARGAL Batzorig</cp:lastModifiedBy>
  <cp:revision>6</cp:revision>
  <dcterms:created xsi:type="dcterms:W3CDTF">2026-05-11T02:19:11Z</dcterms:created>
  <dcterms:modified xsi:type="dcterms:W3CDTF">2026-05-11T05:36:24Z</dcterms:modified>
</cp:coreProperties>
</file>